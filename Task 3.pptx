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6"/>
  </p:notesMasterIdLst>
  <p:sldIdLst>
    <p:sldId id="4778" r:id="rId2"/>
    <p:sldId id="1010" r:id="rId3"/>
    <p:sldId id="4780" r:id="rId4"/>
    <p:sldId id="4779" r:id="rId5"/>
    <p:sldId id="4781" r:id="rId6"/>
    <p:sldId id="4783" r:id="rId7"/>
    <p:sldId id="4782" r:id="rId8"/>
    <p:sldId id="4787" r:id="rId9"/>
    <p:sldId id="4784" r:id="rId10"/>
    <p:sldId id="4785" r:id="rId11"/>
    <p:sldId id="4786" r:id="rId12"/>
    <p:sldId id="4788" r:id="rId13"/>
    <p:sldId id="4789" r:id="rId14"/>
    <p:sldId id="275" r:id="rId15"/>
  </p:sldIdLst>
  <p:sldSz cx="12192000" cy="6858000"/>
  <p:notesSz cx="6858000" cy="9144000"/>
  <p:embeddedFontLst>
    <p:embeddedFont>
      <p:font typeface="Roboto" panose="02000000000000000000" pitchFamily="2" charset="0"/>
      <p:regular r:id="rId17"/>
      <p:bold r:id="rId18"/>
      <p:italic r:id="rId19"/>
      <p:boldItalic r:id="rId20"/>
    </p:embeddedFont>
    <p:embeddedFont>
      <p:font typeface="Roboto Light" panose="02000000000000000000" pitchFamily="2" charset="0"/>
      <p:regular r:id="rId21"/>
      <p:italic r:id="rId22"/>
    </p:embeddedFont>
    <p:embeddedFont>
      <p:font typeface="Roboto Medium" panose="02000000000000000000" pitchFamily="2" charset="0"/>
      <p:regular r:id="rId23"/>
      <p: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3"/>
            <p14:sldId id="4782"/>
            <p14:sldId id="4787"/>
            <p14:sldId id="4784"/>
            <p14:sldId id="4785"/>
            <p14:sldId id="4786"/>
            <p14:sldId id="4788"/>
            <p14:sldId id="4789"/>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5" d="100"/>
          <a:sy n="75" d="100"/>
        </p:scale>
        <p:origin x="1267" y="67"/>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10/08/2026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14</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Aug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
        <p:nvSpPr>
          <p:cNvPr id="5" name="TextBox 4">
            <a:extLst>
              <a:ext uri="{FF2B5EF4-FFF2-40B4-BE49-F238E27FC236}">
                <a16:creationId xmlns:a16="http://schemas.microsoft.com/office/drawing/2014/main" id="{962913EA-2E27-3187-2170-EAEBD8349280}"/>
              </a:ext>
            </a:extLst>
          </p:cNvPr>
          <p:cNvSpPr txBox="1"/>
          <p:nvPr/>
        </p:nvSpPr>
        <p:spPr>
          <a:xfrm>
            <a:off x="6410960" y="6725920"/>
            <a:ext cx="0" cy="0"/>
          </a:xfrm>
          <a:prstGeom prst="rect">
            <a:avLst/>
          </a:prstGeom>
          <a:noFill/>
        </p:spPr>
        <p:txBody>
          <a:bodyPr wrap="none" lIns="0" tIns="0" rIns="0" bIns="0" rtlCol="0" anchor="t">
            <a:noAutofit/>
          </a:bodyPr>
          <a:lstStyle/>
          <a:p>
            <a:pPr algn="l"/>
            <a:endParaRPr lang="en-IN" sz="1200" dirty="0" err="1">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3484881" y="1749609"/>
            <a:ext cx="8191694" cy="1718742"/>
          </a:xfrm>
          <a:prstGeom prst="rect">
            <a:avLst/>
          </a:prstGeom>
          <a:noFill/>
        </p:spPr>
        <p:txBody>
          <a:bodyPr wrap="square" lIns="0" tIns="0" rIns="0" bIns="0" rtlCol="0" anchor="ctr">
            <a:noAutofit/>
          </a:bodyPr>
          <a:lstStyle/>
          <a:p>
            <a:pPr marL="171450" indent="-171450">
              <a:lnSpc>
                <a:spcPct val="150000"/>
              </a:lnSpc>
              <a:buFont typeface="Arial" panose="020B0604020202020204" pitchFamily="34" charset="0"/>
              <a:buChar char="•"/>
            </a:pPr>
            <a:r>
              <a:rPr lang="en-IN" sz="1300" dirty="0"/>
              <a:t>The three highest contributing segments to total sales are: 1. Budget older families, 2. Mainstream young singles/couples, 3. Mainstream retirees.</a:t>
            </a:r>
          </a:p>
          <a:p>
            <a:pPr marL="171450" indent="-171450">
              <a:lnSpc>
                <a:spcPct val="150000"/>
              </a:lnSpc>
              <a:buFont typeface="Arial" panose="020B0604020202020204" pitchFamily="34" charset="0"/>
              <a:buChar char="•"/>
            </a:pPr>
            <a:r>
              <a:rPr lang="en-IN" sz="1300" dirty="0"/>
              <a:t>Factors driving sales: older families have largest avg. no. of packets purchased per customer, while the mainstream young singles/couples have the largest population.</a:t>
            </a:r>
          </a:p>
          <a:p>
            <a:pPr marL="171450" indent="-171450">
              <a:lnSpc>
                <a:spcPct val="150000"/>
              </a:lnSpc>
              <a:buFont typeface="Arial" panose="020B0604020202020204" pitchFamily="34" charset="0"/>
              <a:buChar char="•"/>
            </a:pPr>
            <a:r>
              <a:rPr lang="en-IN" sz="1300" dirty="0"/>
              <a:t>To target in the store strategy: top segments are more likely to purchase brands – Kettle, Smith, Doritos, Pringles.</a:t>
            </a:r>
          </a:p>
        </p:txBody>
      </p:sp>
      <p:sp>
        <p:nvSpPr>
          <p:cNvPr id="9" name="TextBox 8">
            <a:extLst>
              <a:ext uri="{FF2B5EF4-FFF2-40B4-BE49-F238E27FC236}">
                <a16:creationId xmlns:a16="http://schemas.microsoft.com/office/drawing/2014/main" id="{FF9D96EA-4B80-4F92-A071-B09915E427CE}"/>
              </a:ext>
            </a:extLst>
          </p:cNvPr>
          <p:cNvSpPr txBox="1"/>
          <p:nvPr/>
        </p:nvSpPr>
        <p:spPr>
          <a:xfrm>
            <a:off x="3484881" y="4013199"/>
            <a:ext cx="7580989" cy="1507509"/>
          </a:xfrm>
          <a:prstGeom prst="rect">
            <a:avLst/>
          </a:prstGeom>
          <a:noFill/>
        </p:spPr>
        <p:txBody>
          <a:bodyPr wrap="square" lIns="0" tIns="0" rIns="0" bIns="0" rtlCol="0" anchor="t">
            <a:noAutofit/>
          </a:bodyPr>
          <a:lstStyle/>
          <a:p>
            <a:pPr marL="171450" indent="-171450">
              <a:lnSpc>
                <a:spcPct val="150000"/>
              </a:lnSpc>
              <a:buFont typeface="Arial" panose="020B0604020202020204" pitchFamily="34" charset="0"/>
              <a:buChar char="•"/>
            </a:pPr>
            <a:r>
              <a:rPr lang="en-IN" sz="1300" dirty="0"/>
              <a:t>A trial of changing the store layout was implemented in three stores – 77, 86, 88 .</a:t>
            </a:r>
          </a:p>
          <a:p>
            <a:pPr marL="171450" indent="-171450">
              <a:lnSpc>
                <a:spcPct val="150000"/>
              </a:lnSpc>
              <a:buFont typeface="Arial" panose="020B0604020202020204" pitchFamily="34" charset="0"/>
              <a:buChar char="•"/>
            </a:pPr>
            <a:r>
              <a:rPr lang="en-IN" sz="1300" dirty="0"/>
              <a:t>A control store (233, 155, 40 resp.) was constructed to reflect the prior (pre-trial) performance of the selected trial store.</a:t>
            </a:r>
          </a:p>
          <a:p>
            <a:pPr marL="171450" indent="-171450">
              <a:lnSpc>
                <a:spcPct val="150000"/>
              </a:lnSpc>
              <a:buFont typeface="Arial" panose="020B0604020202020204" pitchFamily="34" charset="0"/>
              <a:buChar char="•"/>
            </a:pPr>
            <a:r>
              <a:rPr lang="en-IN" sz="1300" dirty="0"/>
              <a:t>The trial period saw a significant increase in the total sales and no. of customers with a new store layout. </a:t>
            </a:r>
            <a:endParaRPr lang="en-AU" sz="13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IN" dirty="0"/>
              <a:t>Customer Analytics</a:t>
            </a:r>
            <a:endParaRPr lang="en-AU" dirty="0"/>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1294149"/>
          </a:xfrm>
        </p:spPr>
        <p:txBody>
          <a:bodyPr/>
          <a:lstStyle/>
          <a:p>
            <a:r>
              <a:rPr lang="en-IN" dirty="0"/>
              <a:t>Top customer segments - budget older families, mainstream young singles and couples, mainstream retirees collectively contributes to 24.91% of total sales.</a:t>
            </a:r>
          </a:p>
          <a:p>
            <a:endParaRPr lang="en-AU"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2" name="Picture 1">
            <a:extLst>
              <a:ext uri="{FF2B5EF4-FFF2-40B4-BE49-F238E27FC236}">
                <a16:creationId xmlns:a16="http://schemas.microsoft.com/office/drawing/2014/main" id="{B4CE76BC-0B3E-C792-F3B4-D5EA04371730}"/>
              </a:ext>
            </a:extLst>
          </p:cNvPr>
          <p:cNvPicPr>
            <a:picLocks noChangeAspect="1"/>
          </p:cNvPicPr>
          <p:nvPr/>
        </p:nvPicPr>
        <p:blipFill>
          <a:blip r:embed="rId3"/>
          <a:stretch>
            <a:fillRect/>
          </a:stretch>
        </p:blipFill>
        <p:spPr>
          <a:xfrm>
            <a:off x="1420927" y="1483360"/>
            <a:ext cx="10100514" cy="4655820"/>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IN" dirty="0"/>
              <a:t>Mainstream young singles/couples &amp; mainstream retirees have the largest population, driving their sales. </a:t>
            </a:r>
            <a:endParaRPr lang="en-AU"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5" name="Picture 4">
            <a:extLst>
              <a:ext uri="{FF2B5EF4-FFF2-40B4-BE49-F238E27FC236}">
                <a16:creationId xmlns:a16="http://schemas.microsoft.com/office/drawing/2014/main" id="{4343D6F9-BD9A-E4CF-DBF1-86FAF61D352B}"/>
              </a:ext>
            </a:extLst>
          </p:cNvPr>
          <p:cNvPicPr>
            <a:picLocks noChangeAspect="1"/>
          </p:cNvPicPr>
          <p:nvPr/>
        </p:nvPicPr>
        <p:blipFill>
          <a:blip r:embed="rId3"/>
          <a:stretch>
            <a:fillRect/>
          </a:stretch>
        </p:blipFill>
        <p:spPr>
          <a:xfrm>
            <a:off x="1290320" y="1277771"/>
            <a:ext cx="10365936" cy="4848714"/>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IN" dirty="0"/>
              <a:t>Older and young families purchase more chips on average than the other groups with affluence not affecting quantities of chips purchased.</a:t>
            </a:r>
            <a:endParaRPr lang="en-AU" dirty="0"/>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7" name="Picture 6">
            <a:extLst>
              <a:ext uri="{FF2B5EF4-FFF2-40B4-BE49-F238E27FC236}">
                <a16:creationId xmlns:a16="http://schemas.microsoft.com/office/drawing/2014/main" id="{F0CFBF77-63E4-0682-CF9E-B4091DD35148}"/>
              </a:ext>
            </a:extLst>
          </p:cNvPr>
          <p:cNvPicPr>
            <a:picLocks noChangeAspect="1"/>
          </p:cNvPicPr>
          <p:nvPr/>
        </p:nvPicPr>
        <p:blipFill>
          <a:blip r:embed="rId3"/>
          <a:stretch>
            <a:fillRect/>
          </a:stretch>
        </p:blipFill>
        <p:spPr>
          <a:xfrm>
            <a:off x="1412240" y="1361440"/>
            <a:ext cx="10264336" cy="4665980"/>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D297F1-A289-1485-69A2-EFB4EE491DD4}"/>
              </a:ext>
            </a:extLst>
          </p:cNvPr>
          <p:cNvSpPr>
            <a:spLocks noGrp="1"/>
          </p:cNvSpPr>
          <p:nvPr>
            <p:ph type="body" sz="quarter" idx="10"/>
          </p:nvPr>
        </p:nvSpPr>
        <p:spPr/>
        <p:txBody>
          <a:bodyPr/>
          <a:lstStyle/>
          <a:p>
            <a:r>
              <a:rPr lang="en-IN" dirty="0"/>
              <a:t>A deeper dive in the mainstream young singles/couples segment:</a:t>
            </a:r>
          </a:p>
        </p:txBody>
      </p:sp>
      <p:sp>
        <p:nvSpPr>
          <p:cNvPr id="4" name="TextBox 3">
            <a:extLst>
              <a:ext uri="{FF2B5EF4-FFF2-40B4-BE49-F238E27FC236}">
                <a16:creationId xmlns:a16="http://schemas.microsoft.com/office/drawing/2014/main" id="{D0034915-CF04-638F-A8C6-95DF0FBEE1D5}"/>
              </a:ext>
            </a:extLst>
          </p:cNvPr>
          <p:cNvSpPr txBox="1"/>
          <p:nvPr/>
        </p:nvSpPr>
        <p:spPr>
          <a:xfrm>
            <a:off x="1196975" y="1849120"/>
            <a:ext cx="10479600" cy="2997200"/>
          </a:xfrm>
          <a:prstGeom prst="rect">
            <a:avLst/>
          </a:prstGeom>
          <a:noFill/>
        </p:spPr>
        <p:txBody>
          <a:bodyPr wrap="none" lIns="0" tIns="0" rIns="0" bIns="0" rtlCol="0" anchor="t">
            <a:noAutofit/>
          </a:bodyPr>
          <a:lstStyle/>
          <a:p>
            <a:pPr marL="285750" indent="-285750">
              <a:lnSpc>
                <a:spcPct val="200000"/>
              </a:lnSpc>
              <a:buFont typeface="Arial" panose="020B0604020202020204" pitchFamily="34" charset="0"/>
              <a:buChar char="•"/>
            </a:pPr>
            <a:r>
              <a:rPr lang="en-IN" sz="1600" dirty="0"/>
              <a:t>While Kettles chips are the most purchased brand across most segments,  mainstream young singles/couples are </a:t>
            </a:r>
          </a:p>
          <a:p>
            <a:pPr>
              <a:lnSpc>
                <a:spcPct val="200000"/>
              </a:lnSpc>
            </a:pPr>
            <a:r>
              <a:rPr lang="en-IN" sz="1600" dirty="0"/>
              <a:t>       23% more likely to purchase Tyrells chips.</a:t>
            </a:r>
          </a:p>
          <a:p>
            <a:pPr marL="285750" indent="-285750">
              <a:lnSpc>
                <a:spcPct val="200000"/>
              </a:lnSpc>
              <a:buFont typeface="Arial" panose="020B0604020202020204" pitchFamily="34" charset="0"/>
              <a:buChar char="•"/>
            </a:pPr>
            <a:r>
              <a:rPr lang="en-IN" sz="1600" dirty="0"/>
              <a:t>They are also 27% more likely to purchase 270g packets – only Twisties has this size.</a:t>
            </a:r>
          </a:p>
          <a:p>
            <a:pPr marL="285750" indent="-285750">
              <a:lnSpc>
                <a:spcPct val="200000"/>
              </a:lnSpc>
              <a:buFont typeface="Arial" panose="020B0604020202020204" pitchFamily="34" charset="0"/>
              <a:buChar char="•"/>
            </a:pPr>
            <a:r>
              <a:rPr lang="en-IN" sz="1600" dirty="0"/>
              <a:t>Product placement strategy – put Kettles and Twisties where this segment is more likely to see them.</a:t>
            </a:r>
            <a:endParaRPr lang="en-IN" sz="16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917381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IN" dirty="0"/>
              <a:t>The control store is constructed to reflect performance of the trial store rather than the average of other stores. See e.g. stores 77 and 233:</a:t>
            </a:r>
            <a:endParaRPr lang="en-AU"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grpSp>
        <p:nvGrpSpPr>
          <p:cNvPr id="11" name="Group 10">
            <a:extLst>
              <a:ext uri="{FF2B5EF4-FFF2-40B4-BE49-F238E27FC236}">
                <a16:creationId xmlns:a16="http://schemas.microsoft.com/office/drawing/2014/main" id="{B260AF1B-A316-64EE-6C8C-2C86E6EC2C39}"/>
              </a:ext>
            </a:extLst>
          </p:cNvPr>
          <p:cNvGrpSpPr/>
          <p:nvPr/>
        </p:nvGrpSpPr>
        <p:grpSpPr>
          <a:xfrm>
            <a:off x="1196975" y="1822862"/>
            <a:ext cx="10598785" cy="3460338"/>
            <a:chOff x="1462086" y="1954898"/>
            <a:chExt cx="9971126" cy="3135262"/>
          </a:xfrm>
        </p:grpSpPr>
        <p:pic>
          <p:nvPicPr>
            <p:cNvPr id="6" name="Picture 5">
              <a:extLst>
                <a:ext uri="{FF2B5EF4-FFF2-40B4-BE49-F238E27FC236}">
                  <a16:creationId xmlns:a16="http://schemas.microsoft.com/office/drawing/2014/main" id="{B6431A9C-DE95-C6AF-4328-EFC93157B0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2086" y="1954898"/>
              <a:ext cx="4996437" cy="3007361"/>
            </a:xfrm>
            <a:prstGeom prst="rect">
              <a:avLst/>
            </a:prstGeom>
          </p:spPr>
        </p:pic>
        <p:pic>
          <p:nvPicPr>
            <p:cNvPr id="10" name="Picture 9">
              <a:extLst>
                <a:ext uri="{FF2B5EF4-FFF2-40B4-BE49-F238E27FC236}">
                  <a16:creationId xmlns:a16="http://schemas.microsoft.com/office/drawing/2014/main" id="{A30897B9-37A3-0283-7BF4-8AC18283BD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6775" y="1954898"/>
              <a:ext cx="4996437" cy="3135262"/>
            </a:xfrm>
            <a:prstGeom prst="rect">
              <a:avLst/>
            </a:prstGeom>
          </p:spPr>
        </p:pic>
      </p:gr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IN" dirty="0"/>
              <a:t>Trial store 77 and control store 233: trial success, with increases in sales and customer numbers.</a:t>
            </a:r>
            <a:endParaRPr lang="en-AU"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grpSp>
        <p:nvGrpSpPr>
          <p:cNvPr id="12" name="Group 11">
            <a:extLst>
              <a:ext uri="{FF2B5EF4-FFF2-40B4-BE49-F238E27FC236}">
                <a16:creationId xmlns:a16="http://schemas.microsoft.com/office/drawing/2014/main" id="{5AAE6F9A-F09E-41DC-C439-87F2C3203E1C}"/>
              </a:ext>
            </a:extLst>
          </p:cNvPr>
          <p:cNvGrpSpPr/>
          <p:nvPr/>
        </p:nvGrpSpPr>
        <p:grpSpPr>
          <a:xfrm>
            <a:off x="988583" y="2148840"/>
            <a:ext cx="11105004" cy="3134360"/>
            <a:chOff x="978423" y="2326640"/>
            <a:chExt cx="11105004" cy="2560320"/>
          </a:xfrm>
        </p:grpSpPr>
        <p:pic>
          <p:nvPicPr>
            <p:cNvPr id="9" name="Picture 8">
              <a:extLst>
                <a:ext uri="{FF2B5EF4-FFF2-40B4-BE49-F238E27FC236}">
                  <a16:creationId xmlns:a16="http://schemas.microsoft.com/office/drawing/2014/main" id="{0C58AA61-577A-82C8-4806-CD669E05E0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6775" y="2326640"/>
              <a:ext cx="5646652" cy="2486844"/>
            </a:xfrm>
            <a:prstGeom prst="rect">
              <a:avLst/>
            </a:prstGeom>
          </p:spPr>
        </p:pic>
        <p:pic>
          <p:nvPicPr>
            <p:cNvPr id="11" name="Picture 10">
              <a:extLst>
                <a:ext uri="{FF2B5EF4-FFF2-40B4-BE49-F238E27FC236}">
                  <a16:creationId xmlns:a16="http://schemas.microsoft.com/office/drawing/2014/main" id="{AE9EF2A2-D246-888F-C5BE-93B834DE8C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423" y="2326640"/>
              <a:ext cx="5458352" cy="2560320"/>
            </a:xfrm>
            <a:prstGeom prst="rect">
              <a:avLst/>
            </a:prstGeom>
          </p:spPr>
        </p:pic>
      </p:gr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690EEC-89D1-7B77-0585-3E0366971C69}"/>
              </a:ext>
            </a:extLst>
          </p:cNvPr>
          <p:cNvSpPr>
            <a:spLocks noGrp="1"/>
          </p:cNvSpPr>
          <p:nvPr>
            <p:ph type="body" sz="quarter" idx="10"/>
          </p:nvPr>
        </p:nvSpPr>
        <p:spPr/>
        <p:txBody>
          <a:bodyPr/>
          <a:lstStyle/>
          <a:p>
            <a:r>
              <a:rPr lang="en-IN" dirty="0"/>
              <a:t>Trial store 86 and control store 155: trial success, greater increase in customer numbers than sales – check the trial implementation.</a:t>
            </a:r>
          </a:p>
        </p:txBody>
      </p:sp>
      <p:grpSp>
        <p:nvGrpSpPr>
          <p:cNvPr id="7" name="Group 6">
            <a:extLst>
              <a:ext uri="{FF2B5EF4-FFF2-40B4-BE49-F238E27FC236}">
                <a16:creationId xmlns:a16="http://schemas.microsoft.com/office/drawing/2014/main" id="{F0CA51F4-85CB-FD1C-9EA8-0E41D0D161FA}"/>
              </a:ext>
            </a:extLst>
          </p:cNvPr>
          <p:cNvGrpSpPr/>
          <p:nvPr/>
        </p:nvGrpSpPr>
        <p:grpSpPr>
          <a:xfrm>
            <a:off x="767919" y="1920240"/>
            <a:ext cx="11098961" cy="3169920"/>
            <a:chOff x="767919" y="2284560"/>
            <a:chExt cx="11098961" cy="2805600"/>
          </a:xfrm>
        </p:grpSpPr>
        <p:pic>
          <p:nvPicPr>
            <p:cNvPr id="4" name="Picture 3">
              <a:extLst>
                <a:ext uri="{FF2B5EF4-FFF2-40B4-BE49-F238E27FC236}">
                  <a16:creationId xmlns:a16="http://schemas.microsoft.com/office/drawing/2014/main" id="{9C949F36-E65B-A616-5E9F-C42BDE9515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919" y="2284560"/>
              <a:ext cx="5736012" cy="2805600"/>
            </a:xfrm>
            <a:prstGeom prst="rect">
              <a:avLst/>
            </a:prstGeom>
          </p:spPr>
        </p:pic>
        <p:pic>
          <p:nvPicPr>
            <p:cNvPr id="6" name="Picture 5">
              <a:extLst>
                <a:ext uri="{FF2B5EF4-FFF2-40B4-BE49-F238E27FC236}">
                  <a16:creationId xmlns:a16="http://schemas.microsoft.com/office/drawing/2014/main" id="{2355AC57-53EE-21EE-5B0D-CC7C5210D4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3932" y="2284560"/>
              <a:ext cx="5362948" cy="2805600"/>
            </a:xfrm>
            <a:prstGeom prst="rect">
              <a:avLst/>
            </a:prstGeom>
          </p:spPr>
        </p:pic>
      </p:grpSp>
    </p:spTree>
    <p:extLst>
      <p:ext uri="{BB962C8B-B14F-4D97-AF65-F5344CB8AC3E}">
        <p14:creationId xmlns:p14="http://schemas.microsoft.com/office/powerpoint/2010/main" val="1619806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57E0EF-5251-CAFF-B7BF-C5DF2311EF1B}"/>
              </a:ext>
            </a:extLst>
          </p:cNvPr>
          <p:cNvSpPr>
            <a:spLocks noGrp="1"/>
          </p:cNvSpPr>
          <p:nvPr>
            <p:ph type="body" sz="quarter" idx="10"/>
          </p:nvPr>
        </p:nvSpPr>
        <p:spPr/>
        <p:txBody>
          <a:bodyPr/>
          <a:lstStyle/>
          <a:p>
            <a:r>
              <a:rPr lang="en-IN" dirty="0"/>
              <a:t>Trial store 88 and control store 40: no significant difference in performance.</a:t>
            </a:r>
          </a:p>
        </p:txBody>
      </p:sp>
      <p:grpSp>
        <p:nvGrpSpPr>
          <p:cNvPr id="7" name="Group 6">
            <a:extLst>
              <a:ext uri="{FF2B5EF4-FFF2-40B4-BE49-F238E27FC236}">
                <a16:creationId xmlns:a16="http://schemas.microsoft.com/office/drawing/2014/main" id="{7E1BFCCA-4B3C-4C23-1512-43CE7345ECFB}"/>
              </a:ext>
            </a:extLst>
          </p:cNvPr>
          <p:cNvGrpSpPr/>
          <p:nvPr/>
        </p:nvGrpSpPr>
        <p:grpSpPr>
          <a:xfrm>
            <a:off x="937011" y="1625601"/>
            <a:ext cx="11004973" cy="3413760"/>
            <a:chOff x="865891" y="2067063"/>
            <a:chExt cx="11004973" cy="2931657"/>
          </a:xfrm>
        </p:grpSpPr>
        <p:pic>
          <p:nvPicPr>
            <p:cNvPr id="4" name="Picture 3">
              <a:extLst>
                <a:ext uri="{FF2B5EF4-FFF2-40B4-BE49-F238E27FC236}">
                  <a16:creationId xmlns:a16="http://schemas.microsoft.com/office/drawing/2014/main" id="{B3FABE82-9E3F-D324-1BDC-95A179E1BB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6775" y="2067064"/>
              <a:ext cx="5434089" cy="2931656"/>
            </a:xfrm>
            <a:prstGeom prst="rect">
              <a:avLst/>
            </a:prstGeom>
          </p:spPr>
        </p:pic>
        <p:pic>
          <p:nvPicPr>
            <p:cNvPr id="6" name="Picture 5">
              <a:extLst>
                <a:ext uri="{FF2B5EF4-FFF2-40B4-BE49-F238E27FC236}">
                  <a16:creationId xmlns:a16="http://schemas.microsoft.com/office/drawing/2014/main" id="{DF15E57E-CD7D-6109-833D-BD54466A3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891" y="2067063"/>
              <a:ext cx="5570884" cy="2826219"/>
            </a:xfrm>
            <a:prstGeom prst="rect">
              <a:avLst/>
            </a:prstGeom>
          </p:spPr>
        </p:pic>
      </p:grpSp>
    </p:spTree>
    <p:extLst>
      <p:ext uri="{BB962C8B-B14F-4D97-AF65-F5344CB8AC3E}">
        <p14:creationId xmlns:p14="http://schemas.microsoft.com/office/powerpoint/2010/main" val="3791235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6584</TotalTime>
  <Words>654</Words>
  <Application>Microsoft Office PowerPoint</Application>
  <PresentationFormat>Widescreen</PresentationFormat>
  <Paragraphs>47</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Roboto</vt:lpstr>
      <vt:lpstr>Arial</vt:lpstr>
      <vt:lpstr>Roboto Medium</vt:lpstr>
      <vt:lpstr>Roboto Light</vt:lpstr>
      <vt:lpstr>Calibri</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Alka Poddar</cp:lastModifiedBy>
  <cp:revision>473</cp:revision>
  <dcterms:created xsi:type="dcterms:W3CDTF">2018-02-07T23:23:24Z</dcterms:created>
  <dcterms:modified xsi:type="dcterms:W3CDTF">2026-08-10T19:55:35Z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